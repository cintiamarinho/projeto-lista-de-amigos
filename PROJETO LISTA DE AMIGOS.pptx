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2" r:id="rId16"/>
    <p:sldId id="273" r:id="rId17"/>
    <p:sldId id="274" r:id="rId18"/>
    <p:sldId id="275" r:id="rId19"/>
    <p:sldId id="276" r:id="rId20"/>
    <p:sldId id="27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FC27D-03D5-423E-A407-9A17EC339431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33E8E-EBA5-4A18-9657-CC92EA2BF000}" type="slidenum">
              <a:rPr lang="pt-BR" smtClean="0"/>
              <a:t>‹nº›</a:t>
            </a:fld>
            <a:endParaRPr lang="pt-BR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5606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FC27D-03D5-423E-A407-9A17EC339431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33E8E-EBA5-4A18-9657-CC92EA2BF0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558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FC27D-03D5-423E-A407-9A17EC339431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33E8E-EBA5-4A18-9657-CC92EA2BF0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1047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FC27D-03D5-423E-A407-9A17EC339431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33E8E-EBA5-4A18-9657-CC92EA2BF0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0591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FC27D-03D5-423E-A407-9A17EC339431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33E8E-EBA5-4A18-9657-CC92EA2BF0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6328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FC27D-03D5-423E-A407-9A17EC339431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33E8E-EBA5-4A18-9657-CC92EA2BF0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5584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FC27D-03D5-423E-A407-9A17EC339431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33E8E-EBA5-4A18-9657-CC92EA2BF0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6685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FC27D-03D5-423E-A407-9A17EC339431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33E8E-EBA5-4A18-9657-CC92EA2BF0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3364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FC27D-03D5-423E-A407-9A17EC339431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33E8E-EBA5-4A18-9657-CC92EA2BF0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3904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FC27D-03D5-423E-A407-9A17EC339431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33E8E-EBA5-4A18-9657-CC92EA2BF0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7091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FC27D-03D5-423E-A407-9A17EC339431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33E8E-EBA5-4A18-9657-CC92EA2BF0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58785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FC27D-03D5-423E-A407-9A17EC339431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33E8E-EBA5-4A18-9657-CC92EA2BF000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356001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FC27D-03D5-423E-A407-9A17EC339431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33E8E-EBA5-4A18-9657-CC92EA2BF0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07107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FC27D-03D5-423E-A407-9A17EC339431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33E8E-EBA5-4A18-9657-CC92EA2BF000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815250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FC27D-03D5-423E-A407-9A17EC339431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33E8E-EBA5-4A18-9657-CC92EA2BF0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2376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FC27D-03D5-423E-A407-9A17EC339431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33E8E-EBA5-4A18-9657-CC92EA2BF0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42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FC27D-03D5-423E-A407-9A17EC339431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33E8E-EBA5-4A18-9657-CC92EA2BF0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1630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07FC27D-03D5-423E-A407-9A17EC339431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4A33E8E-EBA5-4A18-9657-CC92EA2BF0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88514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  <p:sldLayoutId id="214748374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850838-B6AF-603F-5D8C-33BBC4CB1F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0057" y="754037"/>
            <a:ext cx="8001000" cy="1825389"/>
          </a:xfrm>
        </p:spPr>
        <p:txBody>
          <a:bodyPr>
            <a:normAutofit fontScale="90000"/>
          </a:bodyPr>
          <a:lstStyle/>
          <a:p>
            <a:r>
              <a:rPr lang="pt-BR" b="1" dirty="0"/>
              <a:t>PROJETO LISTA DE AMIGOS</a:t>
            </a:r>
            <a:br>
              <a:rPr lang="pt-BR" dirty="0"/>
            </a:br>
            <a:r>
              <a:rPr lang="pt-BR" b="1" dirty="0"/>
              <a:t>CRUD + SISTEMA DE LOGIN</a:t>
            </a:r>
            <a:br>
              <a:rPr lang="pt-BR" dirty="0"/>
            </a:b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E50A06A-026E-0FB5-1CA5-32707A20B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8677" y="4488726"/>
            <a:ext cx="7586332" cy="1437816"/>
          </a:xfrm>
        </p:spPr>
        <p:txBody>
          <a:bodyPr>
            <a:normAutofit/>
          </a:bodyPr>
          <a:lstStyle/>
          <a:p>
            <a:r>
              <a:rPr lang="pt-BR" b="1" dirty="0"/>
              <a:t>Aluna:</a:t>
            </a:r>
            <a:r>
              <a:rPr lang="pt-BR" dirty="0"/>
              <a:t> CINTIA APARECIDA MARINHO COELHO COSTA</a:t>
            </a:r>
            <a:br>
              <a:rPr lang="pt-BR" dirty="0"/>
            </a:br>
            <a:r>
              <a:rPr lang="pt-BR" b="1" dirty="0"/>
              <a:t>Professor:</a:t>
            </a:r>
            <a:r>
              <a:rPr lang="pt-BR" dirty="0"/>
              <a:t> JOSE MENDES DA SILVA NETO</a:t>
            </a:r>
          </a:p>
          <a:p>
            <a:r>
              <a:rPr lang="pt-BR" b="1" dirty="0"/>
              <a:t>Data:</a:t>
            </a:r>
            <a:r>
              <a:rPr lang="pt-BR" dirty="0"/>
              <a:t> 28/09/2026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92D90F2-8085-AD1F-BA24-E314E7F7A892}"/>
              </a:ext>
            </a:extLst>
          </p:cNvPr>
          <p:cNvSpPr txBox="1"/>
          <p:nvPr/>
        </p:nvSpPr>
        <p:spPr>
          <a:xfrm>
            <a:off x="588677" y="2217216"/>
            <a:ext cx="61073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Olá, meu nome é Cintia e nesta apresentação vou mostrar o projeto desenvolvido na disciplina de Tecnologia da Informação II. O projeto consiste em uma lista de amigos com operações de cadastro, consulta, atualização e exclusão, além de um sistema de login com controle de acesso.</a:t>
            </a:r>
          </a:p>
        </p:txBody>
      </p:sp>
    </p:spTree>
    <p:extLst>
      <p:ext uri="{BB962C8B-B14F-4D97-AF65-F5344CB8AC3E}">
        <p14:creationId xmlns:p14="http://schemas.microsoft.com/office/powerpoint/2010/main" val="2191840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D66B7B-E340-305D-DBC2-0D23CB6EC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382" y="0"/>
            <a:ext cx="8534400" cy="1507067"/>
          </a:xfrm>
        </p:spPr>
        <p:txBody>
          <a:bodyPr/>
          <a:lstStyle/>
          <a:p>
            <a:r>
              <a:rPr lang="pt-BR" b="1" dirty="0"/>
              <a:t>Objetivo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1BC0B2-3C50-4EAB-8FDF-0DB3B4AC3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382" y="1381836"/>
            <a:ext cx="8534400" cy="3615267"/>
          </a:xfrm>
        </p:spPr>
        <p:txBody>
          <a:bodyPr/>
          <a:lstStyle/>
          <a:p>
            <a:r>
              <a:rPr lang="pt-BR" dirty="0"/>
              <a:t>Desenvolver uma aplicação web capaz 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Cadastrar amigos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Listar amigos cadastrados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Atualizar informações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Excluir registros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Realizar login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Controlar o acesso a uma área protegida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Encerrar a sessão através do logout</a:t>
            </a:r>
          </a:p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A564780-F167-F495-F60E-D03B888350E1}"/>
              </a:ext>
            </a:extLst>
          </p:cNvPr>
          <p:cNvSpPr txBox="1"/>
          <p:nvPr/>
        </p:nvSpPr>
        <p:spPr>
          <a:xfrm>
            <a:off x="910987" y="4997103"/>
            <a:ext cx="88471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O objetivo do projeto foi aplicar na prática os conceitos de persistência de dados, operações CRUD e autenticação de usuários. A aplicação permite administrar uma lista de amigos e também possui uma área protegida que exige login.</a:t>
            </a:r>
          </a:p>
        </p:txBody>
      </p:sp>
    </p:spTree>
    <p:extLst>
      <p:ext uri="{BB962C8B-B14F-4D97-AF65-F5344CB8AC3E}">
        <p14:creationId xmlns:p14="http://schemas.microsoft.com/office/powerpoint/2010/main" val="1828660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B3A594E-B4CE-AA3F-52A4-0D43033C7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96" y="0"/>
            <a:ext cx="8534400" cy="1422149"/>
          </a:xfrm>
        </p:spPr>
        <p:txBody>
          <a:bodyPr/>
          <a:lstStyle/>
          <a:p>
            <a:r>
              <a:rPr lang="pt-BR" b="1" dirty="0"/>
              <a:t>Tecnologias utilizadas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D396B9-FF9C-8B2C-5DC2-C813E25A73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496" y="1173708"/>
            <a:ext cx="4937655" cy="3615267"/>
          </a:xfrm>
        </p:spPr>
        <p:txBody>
          <a:bodyPr>
            <a:normAutofit fontScale="92500" lnSpcReduction="10000"/>
          </a:bodyPr>
          <a:lstStyle/>
          <a:p>
            <a:r>
              <a:rPr lang="pt-BR" b="1" dirty="0"/>
              <a:t>Tecnologias</a:t>
            </a: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PHP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MySQL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 err="1"/>
              <a:t>MySQLi</a:t>
            </a:r>
            <a:r>
              <a:rPr lang="pt-B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MySQL Workbench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XAMPP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HTML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W3.CSS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Sessões PHP</a:t>
            </a:r>
          </a:p>
          <a:p>
            <a:endParaRPr lang="pt-BR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3C07EC9-025B-3538-B190-5CF31CC67F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5931" y="4080680"/>
            <a:ext cx="11136573" cy="246342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Para desenvolver o projeto utilizei PHP para a programação do sistema, MySQL para armazenar os dados e </a:t>
            </a:r>
            <a:r>
              <a:rPr lang="pt-BR" dirty="0" err="1">
                <a:solidFill>
                  <a:schemeClr val="tx1"/>
                </a:solidFill>
              </a:rPr>
              <a:t>MySQLi</a:t>
            </a:r>
            <a:r>
              <a:rPr lang="pt-BR" dirty="0">
                <a:solidFill>
                  <a:schemeClr val="tx1"/>
                </a:solidFill>
              </a:rPr>
              <a:t> para realizar a comunicação entre o PHP e o banco de dados. Para executar o projeto localmente utilizei o XAMPP e para trabalhar com o banco utilizei o MySQL Workbench.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7FFEDC3-88C4-9709-05A9-BD188E44F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511" y="950560"/>
            <a:ext cx="3591426" cy="33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057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288C1FDF-4D3F-5F9E-F245-18782A5FCB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465074"/>
            <a:ext cx="8001000" cy="815455"/>
          </a:xfrm>
        </p:spPr>
        <p:txBody>
          <a:bodyPr>
            <a:normAutofit/>
          </a:bodyPr>
          <a:lstStyle/>
          <a:p>
            <a:r>
              <a:rPr lang="pt-BR" sz="3600" b="1" dirty="0"/>
              <a:t>Banco de dados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406570D-97E3-7BCC-9D9F-BAE30590A33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84212" y="1554882"/>
            <a:ext cx="255711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Banco de dados: </a:t>
            </a:r>
            <a:r>
              <a:rPr lang="pt-BR" altLang="pt-BR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pwii</a:t>
            </a:r>
            <a:endParaRPr lang="pt-BR" altLang="pt-BR" sz="1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1800" b="1" dirty="0">
                <a:solidFill>
                  <a:schemeClr val="tx1"/>
                </a:solidFill>
                <a:latin typeface="Arial" panose="020B0604020202020204" pitchFamily="34" charset="0"/>
              </a:rPr>
              <a:t>Tabela amigo</a:t>
            </a:r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963FE73E-16CE-FF14-CEB6-6419C3F496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8302858"/>
              </p:ext>
            </p:extLst>
          </p:nvPr>
        </p:nvGraphicFramePr>
        <p:xfrm>
          <a:off x="830997" y="2501900"/>
          <a:ext cx="546062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7275">
                  <a:extLst>
                    <a:ext uri="{9D8B030D-6E8A-4147-A177-3AD203B41FA5}">
                      <a16:colId xmlns:a16="http://schemas.microsoft.com/office/drawing/2014/main" val="3491134905"/>
                    </a:ext>
                  </a:extLst>
                </a:gridCol>
                <a:gridCol w="3763346">
                  <a:extLst>
                    <a:ext uri="{9D8B030D-6E8A-4147-A177-3AD203B41FA5}">
                      <a16:colId xmlns:a16="http://schemas.microsoft.com/office/drawing/2014/main" val="14622147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Campo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Função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2867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idamigo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Identificação do amigo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823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91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apelido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Apelido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035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email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E-mail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08433"/>
                  </a:ext>
                </a:extLst>
              </a:tr>
            </a:tbl>
          </a:graphicData>
        </a:graphic>
      </p:graphicFrame>
      <p:sp>
        <p:nvSpPr>
          <p:cNvPr id="14" name="Rectangle 6">
            <a:extLst>
              <a:ext uri="{FF2B5EF4-FFF2-40B4-BE49-F238E27FC236}">
                <a16:creationId xmlns:a16="http://schemas.microsoft.com/office/drawing/2014/main" id="{A518345E-3DBF-6989-A638-571599C5B5B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66015" y="4841453"/>
            <a:ext cx="861325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dirty="0">
                <a:latin typeface="Arial" panose="020B0604020202020204" pitchFamily="34" charset="0"/>
              </a:rPr>
              <a:t>O banco utilizado no projeto se chama </a:t>
            </a:r>
            <a:r>
              <a:rPr lang="pt-BR" altLang="pt-BR" dirty="0" err="1">
                <a:latin typeface="Arial" panose="020B0604020202020204" pitchFamily="34" charset="0"/>
              </a:rPr>
              <a:t>pwii</a:t>
            </a:r>
            <a:r>
              <a:rPr lang="pt-BR" altLang="pt-BR" dirty="0">
                <a:latin typeface="Arial" panose="020B0604020202020204" pitchFamily="34" charset="0"/>
              </a:rPr>
              <a:t>. Para a lista de amigos foi criada a tabela amigo. Ela possui um identificador chamado </a:t>
            </a:r>
            <a:r>
              <a:rPr lang="pt-BR" altLang="pt-BR" dirty="0" err="1">
                <a:latin typeface="Arial" panose="020B0604020202020204" pitchFamily="34" charset="0"/>
              </a:rPr>
              <a:t>idamigo</a:t>
            </a:r>
            <a:r>
              <a:rPr lang="pt-BR" altLang="pt-BR" dirty="0">
                <a:latin typeface="Arial" panose="020B0604020202020204" pitchFamily="34" charset="0"/>
              </a:rPr>
              <a:t> e os campos nome, apelido e </a:t>
            </a:r>
            <a:r>
              <a:rPr lang="pt-BR" altLang="pt-BR" dirty="0" err="1">
                <a:latin typeface="Arial" panose="020B0604020202020204" pitchFamily="34" charset="0"/>
              </a:rPr>
              <a:t>email</a:t>
            </a:r>
            <a: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6F24C43E-C685-C5F9-5F2A-5D660BCC9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8527" y="4954041"/>
            <a:ext cx="2200582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295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CE7A92-5CA4-E115-502D-A3C48C714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85800"/>
            <a:ext cx="4774891" cy="838200"/>
          </a:xfrm>
        </p:spPr>
        <p:txBody>
          <a:bodyPr/>
          <a:lstStyle/>
          <a:p>
            <a:r>
              <a:rPr lang="pt-BR" b="1" dirty="0"/>
              <a:t>Página inicial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7097745-D113-9ACF-6EE3-40DA1E5667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1" y="3090333"/>
            <a:ext cx="8534401" cy="678725"/>
          </a:xfrm>
        </p:spPr>
        <p:txBody>
          <a:bodyPr/>
          <a:lstStyle/>
          <a:p>
            <a:r>
              <a:rPr lang="pt-BR" dirty="0"/>
              <a:t>A página inicial funciona como um menu simples do projeto. A partir dela é possível acessar o cadastro de amigos ou a lista de amigos.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A0CDE39-79E1-5E22-29DA-46E39FCB9067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684211" y="1568503"/>
            <a:ext cx="596836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aplicação possui acesso às principais funcionalidades: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Cadastrar amigo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Listar amigos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Arquivo: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altLang="pt-BR" sz="1800" b="1" cap="none" dirty="0" err="1">
                <a:ln>
                  <a:noFill/>
                </a:ln>
                <a:latin typeface="Arial" panose="020B0604020202020204" pitchFamily="34" charset="0"/>
              </a:rPr>
              <a:t>index.php</a:t>
            </a:r>
            <a:endParaRPr lang="pt-BR" altLang="pt-BR" sz="1800" b="1" cap="none" dirty="0">
              <a:ln>
                <a:noFill/>
              </a:ln>
              <a:latin typeface="Arial" panose="020B0604020202020204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3D0F9A7-F496-72E7-8981-8E28082C3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1" y="4277485"/>
            <a:ext cx="3924848" cy="2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803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E28AB4-E5BA-4C44-0957-92F9DED37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85800"/>
            <a:ext cx="8534399" cy="838200"/>
          </a:xfrm>
        </p:spPr>
        <p:txBody>
          <a:bodyPr/>
          <a:lstStyle/>
          <a:p>
            <a:r>
              <a:rPr lang="pt-BR" b="1" dirty="0"/>
              <a:t>Cadastrar amigo — CREATE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4D8081A-6418-B56C-33F3-42DE1FCDCD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2" y="1522506"/>
            <a:ext cx="228780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formulário solicita: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Apelido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E-mail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Arquivos: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altLang="pt-BR" dirty="0" err="1">
                <a:solidFill>
                  <a:schemeClr val="tx1"/>
                </a:solidFill>
                <a:latin typeface="Arial" panose="020B0604020202020204" pitchFamily="34" charset="0"/>
              </a:rPr>
              <a:t>cadastro.php</a:t>
            </a:r>
            <a:r>
              <a:rPr lang="pt-BR" altLang="pt-BR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altLang="pt-BR" dirty="0" err="1">
                <a:solidFill>
                  <a:schemeClr val="tx1"/>
                </a:solidFill>
                <a:latin typeface="Arial" panose="020B0604020202020204" pitchFamily="34" charset="0"/>
              </a:rPr>
              <a:t>cadastroAction.php</a:t>
            </a:r>
            <a:endParaRPr lang="pt-BR" altLang="pt-BR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DE9BE57-A93A-C7A5-A777-29A45459881B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684212" y="4219769"/>
            <a:ext cx="493463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primeira operação do CRUD é o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que corresponde ao cadastro. O usuário preenche nome, apelido e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email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O formulário envia essas informações para o arquivo </a:t>
            </a:r>
            <a:r>
              <a:rPr lang="pt-BR" altLang="pt-BR" sz="1800" cap="none" dirty="0" err="1">
                <a:ln>
                  <a:noFill/>
                </a:ln>
                <a:latin typeface="Arial" panose="020B0604020202020204" pitchFamily="34" charset="0"/>
              </a:rPr>
              <a:t>cadastroAction.php</a:t>
            </a:r>
            <a:r>
              <a:rPr lang="pt-BR" altLang="pt-BR" sz="1800" cap="none" dirty="0">
                <a:ln>
                  <a:noFill/>
                </a:ln>
                <a:latin typeface="Arial" panose="020B0604020202020204" pitchFamily="34" charset="0"/>
              </a:rPr>
              <a:t>, que realiza o INSERT no banco de dados. 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88CD66A-886F-1D95-046B-80594538C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149" y="1661005"/>
            <a:ext cx="4934639" cy="434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339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462B3C-9BBD-AFDF-1D07-19A319936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382" y="208128"/>
            <a:ext cx="7272432" cy="838200"/>
          </a:xfrm>
        </p:spPr>
        <p:txBody>
          <a:bodyPr/>
          <a:lstStyle/>
          <a:p>
            <a:r>
              <a:rPr lang="pt-BR" b="1" dirty="0"/>
              <a:t>Listar amigos — READ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01B1C8B-9837-34ED-D0F6-A9712ECF8D43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581450" y="1317932"/>
            <a:ext cx="462476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sistema consulta os registros da </a:t>
            </a:r>
            <a:r>
              <a:rPr lang="pt-BR" altLang="pt-BR" sz="1800" cap="none" dirty="0">
                <a:ln>
                  <a:noFill/>
                </a:ln>
                <a:latin typeface="Arial" panose="020B0604020202020204" pitchFamily="34" charset="0"/>
              </a:rPr>
              <a:t>tabela amigo e apresenta</a:t>
            </a:r>
            <a: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Apelido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E-mail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Também disponibiliza: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Excluir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Atualizar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Arquivo</a:t>
            </a:r>
            <a:r>
              <a:rPr lang="pt-BR" altLang="pt-BR" sz="1800" b="1" cap="none" dirty="0">
                <a:ln>
                  <a:noFill/>
                </a:ln>
                <a:latin typeface="Arial" panose="020B0604020202020204" pitchFamily="34" charset="0"/>
              </a:rPr>
              <a:t>: </a:t>
            </a:r>
            <a:r>
              <a:rPr lang="pt-BR" altLang="pt-BR" sz="1800" b="1" cap="none" dirty="0" err="1">
                <a:ln>
                  <a:noFill/>
                </a:ln>
                <a:latin typeface="Arial" panose="020B0604020202020204" pitchFamily="34" charset="0"/>
              </a:rPr>
              <a:t>listar.php</a:t>
            </a:r>
            <a:endParaRPr lang="pt-BR" altLang="pt-BR" sz="1800" b="1" cap="none" dirty="0">
              <a:ln>
                <a:noFill/>
              </a:ln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0D286FB-BEE1-5F47-490A-CA543F647E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1382" y="5005857"/>
            <a:ext cx="940148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segunda operação é o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Read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O sistema consulta os registros existentes na tabela </a:t>
            </a:r>
            <a:r>
              <a:rPr lang="pt-BR" altLang="pt-BR" dirty="0">
                <a:solidFill>
                  <a:schemeClr val="tx1"/>
                </a:solidFill>
                <a:latin typeface="Arial" panose="020B0604020202020204" pitchFamily="34" charset="0"/>
              </a:rPr>
              <a:t>amigo e apresenta os dados em uma tabela. Nessa mesma tela ficam disponíveis as opções para atualizar ou excluir cada registro. 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43E75D-85D0-79E9-5627-3E863113F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598" y="2309129"/>
            <a:ext cx="7693599" cy="1743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078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6C853A-6C9D-1898-069B-3C7EEA728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85800"/>
            <a:ext cx="6740169" cy="838200"/>
          </a:xfrm>
        </p:spPr>
        <p:txBody>
          <a:bodyPr/>
          <a:lstStyle/>
          <a:p>
            <a:r>
              <a:rPr lang="pt-BR" b="1" dirty="0"/>
              <a:t>Atualizar amigo — UPDATE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3F2B8CE-4236-555E-87D7-4B4D19C3CF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1" y="4560080"/>
            <a:ext cx="5552816" cy="1885075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chemeClr val="tx1"/>
                </a:solidFill>
              </a:rPr>
              <a:t>A terceira operação é o Update. Ao clicar em Atualizar, o sistema abre um formulário com os dados do amigo. Depois que os dados são alterados, o sistema executa um UPDATE no banco de dados.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D6FD68C-47BD-1ED9-8BF9-4615E4F16221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684211" y="1610879"/>
            <a:ext cx="254428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usuário pode alterar: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Apelido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E-mail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Arquivos: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altLang="pt-BR" sz="1800" b="1" cap="none" dirty="0" err="1">
                <a:ln>
                  <a:noFill/>
                </a:ln>
                <a:latin typeface="Arial" panose="020B0604020202020204" pitchFamily="34" charset="0"/>
              </a:rPr>
              <a:t>atualizar.php</a:t>
            </a:r>
            <a:r>
              <a:rPr lang="pt-BR" altLang="pt-BR" sz="1800" b="1" cap="none" dirty="0">
                <a:ln>
                  <a:noFill/>
                </a:ln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altLang="pt-BR" sz="1800" b="1" cap="none" dirty="0" err="1">
                <a:ln>
                  <a:noFill/>
                </a:ln>
                <a:latin typeface="Arial" panose="020B0604020202020204" pitchFamily="34" charset="0"/>
              </a:rPr>
              <a:t>atualizarAction.php</a:t>
            </a:r>
            <a:endParaRPr lang="pt-BR" altLang="pt-BR" sz="1800" b="1" cap="none" dirty="0">
              <a:ln>
                <a:noFill/>
              </a:ln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FCC3249-8320-4497-8BF4-9DDB10B5F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7098" y="2209247"/>
            <a:ext cx="4410691" cy="39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101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060B7A-0EFC-3AC7-3E67-625199997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85800"/>
            <a:ext cx="6194259" cy="838200"/>
          </a:xfrm>
        </p:spPr>
        <p:txBody>
          <a:bodyPr/>
          <a:lstStyle/>
          <a:p>
            <a:r>
              <a:rPr lang="pt-BR" b="1" dirty="0"/>
              <a:t>Excluir amigo — DELETE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B051321-0A70-3934-3D68-60976B2C70E1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684212" y="1867072"/>
            <a:ext cx="4993675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Fluxo: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Lista → Excluir → Confirmação → Exclusão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Arquivos: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altLang="pt-BR" sz="1400" b="1" cap="none" dirty="0" err="1">
                <a:ln>
                  <a:noFill/>
                </a:ln>
                <a:latin typeface="Arial" panose="020B0604020202020204" pitchFamily="34" charset="0"/>
              </a:rPr>
              <a:t>excluir.php</a:t>
            </a:r>
            <a:r>
              <a:rPr lang="pt-BR" altLang="pt-BR" sz="1400" b="1" cap="none" dirty="0">
                <a:ln>
                  <a:noFill/>
                </a:ln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altLang="pt-BR" sz="1400" b="1" cap="none" dirty="0" err="1">
                <a:ln>
                  <a:noFill/>
                </a:ln>
                <a:latin typeface="Arial" panose="020B0604020202020204" pitchFamily="34" charset="0"/>
              </a:rPr>
              <a:t>excluirAction.php</a:t>
            </a:r>
            <a:endParaRPr lang="pt-BR" altLang="pt-BR" sz="1400" b="1" cap="none" dirty="0">
              <a:ln>
                <a:noFill/>
              </a:ln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522822B-ED5D-6CE7-DB42-C493A6C946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2" y="4111535"/>
            <a:ext cx="563086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última operação do CRUD é o Delete. Primeiro o sistema apresenta uma confirmação para evitar uma exclusão acidental. Depois da confirmação, o arquivo </a:t>
            </a:r>
            <a:r>
              <a:rPr lang="pt-BR" altLang="pt-BR" dirty="0" err="1">
                <a:solidFill>
                  <a:schemeClr val="tx1"/>
                </a:solidFill>
                <a:latin typeface="Arial" panose="020B0604020202020204" pitchFamily="34" charset="0"/>
              </a:rPr>
              <a:t>excluirAction.php</a:t>
            </a:r>
            <a:r>
              <a:rPr lang="pt-BR" altLang="pt-BR" dirty="0">
                <a:solidFill>
                  <a:schemeClr val="tx1"/>
                </a:solidFill>
                <a:latin typeface="Arial" panose="020B0604020202020204" pitchFamily="34" charset="0"/>
              </a:rPr>
              <a:t> executa o DELETE no banco. 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FBCD1BD-CEC5-E070-EAFD-B325A5083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581" y="3132070"/>
            <a:ext cx="4864207" cy="3040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978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18112A-F3D1-5E98-DF32-B22B7BB72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288" y="819476"/>
            <a:ext cx="3752222" cy="556146"/>
          </a:xfrm>
        </p:spPr>
        <p:txBody>
          <a:bodyPr>
            <a:normAutofit fontScale="90000"/>
          </a:bodyPr>
          <a:lstStyle/>
          <a:p>
            <a:r>
              <a:rPr lang="pt-BR" b="1" dirty="0"/>
              <a:t>CRUD completo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6E3A616-37DB-C0C0-D116-32D1A45A0F74}"/>
              </a:ext>
            </a:extLst>
          </p:cNvPr>
          <p:cNvSpPr txBox="1"/>
          <p:nvPr/>
        </p:nvSpPr>
        <p:spPr>
          <a:xfrm>
            <a:off x="733569" y="4170668"/>
            <a:ext cx="610737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CADASTRAR</a:t>
            </a:r>
          </a:p>
          <a:p>
            <a:r>
              <a:rPr lang="pt-BR" dirty="0"/>
              <a:t>    ↓</a:t>
            </a:r>
          </a:p>
          <a:p>
            <a:r>
              <a:rPr lang="pt-BR" dirty="0"/>
              <a:t>LISTAR</a:t>
            </a:r>
          </a:p>
          <a:p>
            <a:r>
              <a:rPr lang="pt-BR" dirty="0"/>
              <a:t> ↙    ↘</a:t>
            </a:r>
          </a:p>
          <a:p>
            <a:r>
              <a:rPr lang="pt-BR" dirty="0"/>
              <a:t>ATUALIZAR  EXCLUIR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E1B4EAE-245C-9D2A-1ED9-8513742B037D}"/>
              </a:ext>
            </a:extLst>
          </p:cNvPr>
          <p:cNvSpPr txBox="1"/>
          <p:nvPr/>
        </p:nvSpPr>
        <p:spPr>
          <a:xfrm>
            <a:off x="556147" y="2368505"/>
            <a:ext cx="304231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C — </a:t>
            </a:r>
            <a:r>
              <a:rPr lang="pt-BR" b="1" dirty="0" err="1"/>
              <a:t>Create</a:t>
            </a:r>
            <a:r>
              <a:rPr lang="pt-BR" b="1" dirty="0"/>
              <a:t> → Cadastrar</a:t>
            </a:r>
            <a:br>
              <a:rPr lang="pt-BR" dirty="0"/>
            </a:br>
            <a:r>
              <a:rPr lang="pt-BR" b="1" dirty="0"/>
              <a:t>R — </a:t>
            </a:r>
            <a:r>
              <a:rPr lang="pt-BR" b="1" dirty="0" err="1"/>
              <a:t>Read</a:t>
            </a:r>
            <a:r>
              <a:rPr lang="pt-BR" b="1" dirty="0"/>
              <a:t> → Listar</a:t>
            </a:r>
            <a:br>
              <a:rPr lang="pt-BR" dirty="0"/>
            </a:br>
            <a:r>
              <a:rPr lang="pt-BR" b="1" dirty="0"/>
              <a:t>U — Update → Atualizar</a:t>
            </a:r>
            <a:br>
              <a:rPr lang="pt-BR" dirty="0"/>
            </a:br>
            <a:r>
              <a:rPr lang="pt-BR" b="1" dirty="0"/>
              <a:t>D — Delete → Excluir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7A9731E-7E97-4A29-9C70-312D5D6BE11D}"/>
              </a:ext>
            </a:extLst>
          </p:cNvPr>
          <p:cNvSpPr txBox="1"/>
          <p:nvPr/>
        </p:nvSpPr>
        <p:spPr>
          <a:xfrm>
            <a:off x="451288" y="1676539"/>
            <a:ext cx="81920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O CRUD reúne as quatro operações principais realizadas no sistema:</a:t>
            </a:r>
          </a:p>
        </p:txBody>
      </p:sp>
    </p:spTree>
    <p:extLst>
      <p:ext uri="{BB962C8B-B14F-4D97-AF65-F5344CB8AC3E}">
        <p14:creationId xmlns:p14="http://schemas.microsoft.com/office/powerpoint/2010/main" val="879429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8C7641-5B2C-4CF2-1098-FB19CCB6A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85800"/>
            <a:ext cx="6753817" cy="838200"/>
          </a:xfrm>
        </p:spPr>
        <p:txBody>
          <a:bodyPr>
            <a:normAutofit fontScale="90000"/>
          </a:bodyPr>
          <a:lstStyle/>
          <a:p>
            <a:r>
              <a:rPr lang="pt-BR" sz="4000" b="1" dirty="0"/>
              <a:t>Banco de dados do login</a:t>
            </a:r>
            <a:br>
              <a:rPr lang="pt-BR" b="1" dirty="0"/>
            </a:br>
            <a:endParaRPr lang="pt-BR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95DCA68-26EA-38CA-127B-85CF57F04EB8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684211" y="1489272"/>
            <a:ext cx="8534401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Sistema de Login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1800" cap="none" dirty="0">
                <a:ln>
                  <a:noFill/>
                </a:ln>
                <a:latin typeface="Arial" panose="020B0604020202020204" pitchFamily="34" charset="0"/>
              </a:rPr>
              <a:t>Tabela: professor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1800" cap="none" dirty="0">
              <a:ln>
                <a:noFill/>
              </a:ln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1800" cap="none" dirty="0">
                <a:ln>
                  <a:noFill/>
                </a:ln>
                <a:latin typeface="Arial" panose="020B0604020202020204" pitchFamily="34" charset="0"/>
              </a:rPr>
              <a:t>Campos: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1800" cap="none" dirty="0">
              <a:ln>
                <a:noFill/>
              </a:ln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altLang="pt-BR" sz="1800" cap="none" dirty="0" err="1">
                <a:ln>
                  <a:noFill/>
                </a:ln>
                <a:latin typeface="Arial" panose="020B0604020202020204" pitchFamily="34" charset="0"/>
              </a:rPr>
              <a:t>idprofessor</a:t>
            </a:r>
            <a:r>
              <a:rPr lang="pt-BR" altLang="pt-BR" sz="1800" cap="none" dirty="0">
                <a:ln>
                  <a:noFill/>
                </a:ln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altLang="pt-BR" sz="1800" cap="none" dirty="0">
                <a:ln>
                  <a:noFill/>
                </a:ln>
                <a:latin typeface="Arial" panose="020B0604020202020204" pitchFamily="34" charset="0"/>
              </a:rPr>
              <a:t>nome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altLang="pt-BR" sz="1800" cap="none" dirty="0">
                <a:ln>
                  <a:noFill/>
                </a:ln>
                <a:latin typeface="Arial" panose="020B0604020202020204" pitchFamily="34" charset="0"/>
              </a:rPr>
              <a:t>disciplina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altLang="pt-BR" sz="1800" cap="none" dirty="0">
                <a:ln>
                  <a:noFill/>
                </a:ln>
                <a:latin typeface="Arial" panose="020B0604020202020204" pitchFamily="34" charset="0"/>
              </a:rPr>
              <a:t>senha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58CD513-D245-26BB-A166-9197FE8A1F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1" y="4711333"/>
            <a:ext cx="500690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dirty="0">
                <a:solidFill>
                  <a:schemeClr val="tx1"/>
                </a:solidFill>
                <a:latin typeface="Arial" panose="020B0604020202020204" pitchFamily="34" charset="0"/>
              </a:rPr>
              <a:t>Além do CRUD, o projeto possui um sistema de login. Para isso foi criada a tabela professor, que armazena o nome, a disciplina e a senha do usuário. 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369FF8D-49DE-9567-7A95-A9904A587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9701" y="4480533"/>
            <a:ext cx="5972051" cy="177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704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B9777-2446-10A1-5D74-13C3ED708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85800"/>
            <a:ext cx="6098724" cy="838200"/>
          </a:xfrm>
        </p:spPr>
        <p:txBody>
          <a:bodyPr/>
          <a:lstStyle/>
          <a:p>
            <a:r>
              <a:rPr lang="pt-BR" b="1" dirty="0"/>
              <a:t>Tela de Login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0FA33C7-3D40-58B3-3964-E868A4C46C36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681485" y="1524000"/>
            <a:ext cx="668557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usuário informa: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Senha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Arquivo: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login.php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 informações são enviadas para: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loginAction.php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983418D-AEBA-AA2D-1672-5170DE3854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1" y="4614796"/>
            <a:ext cx="485677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dirty="0">
                <a:solidFill>
                  <a:schemeClr val="tx1"/>
                </a:solidFill>
                <a:latin typeface="Arial" panose="020B0604020202020204" pitchFamily="34" charset="0"/>
              </a:rPr>
              <a:t>Na tela de login, o usuário informa seu nome e sua senha. Essas informações são enviadas para o arquivo </a:t>
            </a:r>
            <a:r>
              <a:rPr lang="pt-BR" altLang="pt-BR" dirty="0" err="1">
                <a:solidFill>
                  <a:schemeClr val="tx1"/>
                </a:solidFill>
                <a:latin typeface="Arial" panose="020B0604020202020204" pitchFamily="34" charset="0"/>
              </a:rPr>
              <a:t>loginAction.php</a:t>
            </a:r>
            <a:r>
              <a:rPr lang="pt-BR" altLang="pt-BR" dirty="0">
                <a:solidFill>
                  <a:schemeClr val="tx1"/>
                </a:solidFill>
                <a:latin typeface="Arial" panose="020B0604020202020204" pitchFamily="34" charset="0"/>
              </a:rPr>
              <a:t>, que verifica os dados no banco.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E3B44B5-1974-17A5-D3CE-D7C8C179B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2937" y="1899797"/>
            <a:ext cx="4515480" cy="331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787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FFBCE-285B-46FC-530F-B918DA625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891" y="285504"/>
            <a:ext cx="5580109" cy="838200"/>
          </a:xfrm>
        </p:spPr>
        <p:txBody>
          <a:bodyPr/>
          <a:lstStyle/>
          <a:p>
            <a:r>
              <a:rPr lang="pt-BR" b="1" dirty="0"/>
              <a:t>Validação do login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F165C67-0D9B-291C-25CB-AFB65DF1367C}"/>
              </a:ext>
            </a:extLst>
          </p:cNvPr>
          <p:cNvSpPr txBox="1"/>
          <p:nvPr/>
        </p:nvSpPr>
        <p:spPr>
          <a:xfrm>
            <a:off x="534086" y="1123704"/>
            <a:ext cx="402426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Nome + Senha</a:t>
            </a:r>
          </a:p>
          <a:p>
            <a:r>
              <a:rPr lang="pt-BR" dirty="0"/>
              <a:t>      ↓</a:t>
            </a:r>
          </a:p>
          <a:p>
            <a:r>
              <a:rPr lang="pt-BR" dirty="0" err="1"/>
              <a:t>loginAction.php</a:t>
            </a:r>
            <a:endParaRPr lang="pt-BR" dirty="0"/>
          </a:p>
          <a:p>
            <a:r>
              <a:rPr lang="pt-BR" dirty="0"/>
              <a:t>      ↓</a:t>
            </a:r>
          </a:p>
          <a:p>
            <a:r>
              <a:rPr lang="pt-BR" dirty="0"/>
              <a:t>Consulta no banco</a:t>
            </a:r>
          </a:p>
          <a:p>
            <a:r>
              <a:rPr lang="pt-BR" dirty="0"/>
              <a:t>      ↓</a:t>
            </a:r>
          </a:p>
          <a:p>
            <a:r>
              <a:rPr lang="pt-BR" dirty="0"/>
              <a:t> ┌───────────────┐</a:t>
            </a:r>
          </a:p>
          <a:p>
            <a:r>
              <a:rPr lang="pt-BR" dirty="0"/>
              <a:t> │ Usuário existe?│</a:t>
            </a:r>
          </a:p>
          <a:p>
            <a:r>
              <a:rPr lang="pt-BR" dirty="0"/>
              <a:t> └───────────────┘</a:t>
            </a:r>
          </a:p>
          <a:p>
            <a:r>
              <a:rPr lang="pt-BR" dirty="0"/>
              <a:t>      ↓       ↓</a:t>
            </a:r>
          </a:p>
          <a:p>
            <a:r>
              <a:rPr lang="pt-BR" dirty="0"/>
              <a:t>     SIM     NÃO</a:t>
            </a:r>
          </a:p>
          <a:p>
            <a:r>
              <a:rPr lang="pt-BR" dirty="0"/>
              <a:t>      ↓       ↓</a:t>
            </a:r>
          </a:p>
          <a:p>
            <a:r>
              <a:rPr lang="pt-BR" dirty="0"/>
              <a:t>   Login    Acesso</a:t>
            </a:r>
          </a:p>
          <a:p>
            <a:r>
              <a:rPr lang="pt-BR" dirty="0"/>
              <a:t> autorizado  negado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7C9BF13-D7AD-9DC4-CDCF-48345D09C7F5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3659423" y="1781615"/>
            <a:ext cx="821117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1800" cap="none" dirty="0">
                <a:ln>
                  <a:noFill/>
                </a:ln>
                <a:latin typeface="Arial" panose="020B0604020202020204" pitchFamily="34" charset="0"/>
              </a:rPr>
              <a:t>Depois que o usuário envia o formulário, o sistema consulta a tabela professor. Se os dados forem encontrados, a sessão é criada e o usuário é encaminhado para a área do professor. Caso contrário, ele é encaminhado para a página de acesso negado. 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E530E4B5-1302-DEC2-DD0B-7C1CCCF54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3651" y="3758584"/>
            <a:ext cx="4236950" cy="212383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46607770-DB57-A6AC-7446-D3F8809CD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9423" y="3565064"/>
            <a:ext cx="3532251" cy="2510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266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FCD13F-4899-EF4B-1833-C589675F9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85800"/>
            <a:ext cx="5771178" cy="838200"/>
          </a:xfrm>
        </p:spPr>
        <p:txBody>
          <a:bodyPr/>
          <a:lstStyle/>
          <a:p>
            <a:r>
              <a:rPr lang="pt-BR" b="1" dirty="0"/>
              <a:t>Controle de sessão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B28E915-878A-59A2-D883-12C6D201FA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0689" y="1801504"/>
            <a:ext cx="2987036" cy="372155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O sistema utiliza: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80A960E-7DDF-605F-93FE-989A35CDE2D5}"/>
              </a:ext>
            </a:extLst>
          </p:cNvPr>
          <p:cNvSpPr txBox="1"/>
          <p:nvPr/>
        </p:nvSpPr>
        <p:spPr>
          <a:xfrm>
            <a:off x="820689" y="2536294"/>
            <a:ext cx="28455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$_SESSION['logado']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6DFA392-F1D2-5D15-C652-C0D26120A4E2}"/>
              </a:ext>
            </a:extLst>
          </p:cNvPr>
          <p:cNvSpPr txBox="1"/>
          <p:nvPr/>
        </p:nvSpPr>
        <p:spPr>
          <a:xfrm>
            <a:off x="820689" y="3268261"/>
            <a:ext cx="67010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A área do professor verifica se existe uma sessão válida.</a:t>
            </a:r>
          </a:p>
          <a:p>
            <a:r>
              <a:rPr lang="pt-BR" b="1" dirty="0"/>
              <a:t>Sem login → Acesso Negado</a:t>
            </a:r>
            <a:endParaRPr lang="pt-BR" dirty="0"/>
          </a:p>
          <a:p>
            <a:r>
              <a:rPr lang="pt-BR" b="1" dirty="0"/>
              <a:t>Com login → Área do Professor</a:t>
            </a:r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B4B449F-6764-9AFD-C259-1264BAB59519}"/>
              </a:ext>
            </a:extLst>
          </p:cNvPr>
          <p:cNvSpPr txBox="1"/>
          <p:nvPr/>
        </p:nvSpPr>
        <p:spPr>
          <a:xfrm>
            <a:off x="820688" y="4569308"/>
            <a:ext cx="97699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Depois de validar o login, o sistema utiliza uma sessão para identificar que o usuário está logado. A página do professor verifica essa sessão antes de permitir o acesso.</a:t>
            </a:r>
          </a:p>
        </p:txBody>
      </p:sp>
    </p:spTree>
    <p:extLst>
      <p:ext uri="{BB962C8B-B14F-4D97-AF65-F5344CB8AC3E}">
        <p14:creationId xmlns:p14="http://schemas.microsoft.com/office/powerpoint/2010/main" val="2276913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4F0A05-F674-6928-1CBA-DBC74560C8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685800"/>
            <a:ext cx="6549101" cy="992876"/>
          </a:xfrm>
        </p:spPr>
        <p:txBody>
          <a:bodyPr>
            <a:normAutofit/>
          </a:bodyPr>
          <a:lstStyle/>
          <a:p>
            <a:r>
              <a:rPr lang="pt-BR" sz="3600" b="1" dirty="0"/>
              <a:t>Área do professor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FEB6BF5-D512-BE70-CFA0-8081E0E3D7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988" y="2493744"/>
            <a:ext cx="290656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Após o login: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Bem-vindo, Paulo!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usuário pode: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Acessar a área protegida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Encerrar a sessão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FDE6350-B0E8-6D16-7C00-0E53B0D61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0797" y="2291190"/>
            <a:ext cx="3532251" cy="251087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7CA0AD9-3B20-D2C5-D2A1-CA046EBEFE64}"/>
              </a:ext>
            </a:extLst>
          </p:cNvPr>
          <p:cNvSpPr txBox="1"/>
          <p:nvPr/>
        </p:nvSpPr>
        <p:spPr>
          <a:xfrm>
            <a:off x="3961037" y="2669466"/>
            <a:ext cx="32722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Depois de realizar o login corretamente, o usuário consegue acessar a área do professor. Nessa página o sistema identifica o usuário através da sessão.</a:t>
            </a:r>
          </a:p>
        </p:txBody>
      </p:sp>
    </p:spTree>
    <p:extLst>
      <p:ext uri="{BB962C8B-B14F-4D97-AF65-F5344CB8AC3E}">
        <p14:creationId xmlns:p14="http://schemas.microsoft.com/office/powerpoint/2010/main" val="1424539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0F307D-D5C2-2FA8-439E-B169658E3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87" y="488539"/>
            <a:ext cx="7572684" cy="657874"/>
          </a:xfrm>
        </p:spPr>
        <p:txBody>
          <a:bodyPr/>
          <a:lstStyle/>
          <a:p>
            <a:r>
              <a:rPr lang="pt-BR" b="1" dirty="0"/>
              <a:t>Logout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A195EC-0697-DFA8-B2E4-C9CBF1343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087" y="1226741"/>
            <a:ext cx="458330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Logout — Encerramento da sessão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Botão: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Sair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sistema: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Encerra a sessão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Retorna para a tela de login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Impede o acesso direto à área protegida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Arquivo: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altLang="pt-BR" b="1" dirty="0" err="1">
                <a:latin typeface="Arial" panose="020B0604020202020204" pitchFamily="34" charset="0"/>
              </a:rPr>
              <a:t>logoutAction.php</a:t>
            </a:r>
            <a:endParaRPr lang="pt-BR" altLang="pt-BR" b="1" dirty="0">
              <a:latin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DAFB7B5-AED0-DCB9-6AB2-8E981DF244C7}"/>
              </a:ext>
            </a:extLst>
          </p:cNvPr>
          <p:cNvSpPr txBox="1"/>
          <p:nvPr/>
        </p:nvSpPr>
        <p:spPr>
          <a:xfrm>
            <a:off x="534086" y="4549844"/>
            <a:ext cx="95516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Para finalizar o acesso, existe o botão Sair. Ele encerra a sessão do usuário e retorna para a tela de login. Depois disso, se tentarmos acessar diretamente a área do professor, o sistema apresenta acesso negado.</a:t>
            </a:r>
          </a:p>
        </p:txBody>
      </p:sp>
    </p:spTree>
    <p:extLst>
      <p:ext uri="{BB962C8B-B14F-4D97-AF65-F5344CB8AC3E}">
        <p14:creationId xmlns:p14="http://schemas.microsoft.com/office/powerpoint/2010/main" val="4118709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C5660DFB-C0FC-2D75-AE28-364E14DA1A90}"/>
              </a:ext>
            </a:extLst>
          </p:cNvPr>
          <p:cNvSpPr txBox="1"/>
          <p:nvPr/>
        </p:nvSpPr>
        <p:spPr>
          <a:xfrm>
            <a:off x="597089" y="504546"/>
            <a:ext cx="86015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pt-BR" sz="3600" b="1" cap="all" dirty="0">
                <a:ln w="3175" cmpd="sng">
                  <a:noFill/>
                </a:ln>
                <a:latin typeface="+mj-lt"/>
                <a:ea typeface="+mj-ea"/>
                <a:cs typeface="+mj-cs"/>
              </a:rPr>
              <a:t>Estrutura do projeto/Arquivos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5F42875-27A9-5560-1714-F2C794D33986}"/>
              </a:ext>
            </a:extLst>
          </p:cNvPr>
          <p:cNvSpPr txBox="1"/>
          <p:nvPr/>
        </p:nvSpPr>
        <p:spPr>
          <a:xfrm>
            <a:off x="597089" y="1150877"/>
            <a:ext cx="570931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Gabi/</a:t>
            </a:r>
          </a:p>
          <a:p>
            <a:r>
              <a:rPr lang="pt-BR" dirty="0"/>
              <a:t>│</a:t>
            </a:r>
          </a:p>
          <a:p>
            <a:r>
              <a:rPr lang="pt-BR" dirty="0"/>
              <a:t>├── </a:t>
            </a:r>
            <a:r>
              <a:rPr lang="pt-BR" dirty="0" err="1"/>
              <a:t>index.php</a:t>
            </a:r>
            <a:endParaRPr lang="pt-BR" dirty="0"/>
          </a:p>
          <a:p>
            <a:r>
              <a:rPr lang="pt-BR" dirty="0"/>
              <a:t>│</a:t>
            </a:r>
          </a:p>
          <a:p>
            <a:r>
              <a:rPr lang="pt-BR" dirty="0"/>
              <a:t>├── </a:t>
            </a:r>
            <a:r>
              <a:rPr lang="pt-BR" dirty="0" err="1"/>
              <a:t>cadastro.php</a:t>
            </a:r>
            <a:endParaRPr lang="pt-BR" dirty="0"/>
          </a:p>
          <a:p>
            <a:r>
              <a:rPr lang="pt-BR" dirty="0"/>
              <a:t>├── </a:t>
            </a:r>
            <a:r>
              <a:rPr lang="pt-BR" dirty="0" err="1"/>
              <a:t>cadastroAction.php</a:t>
            </a:r>
            <a:endParaRPr lang="pt-BR" dirty="0"/>
          </a:p>
          <a:p>
            <a:r>
              <a:rPr lang="pt-BR" dirty="0"/>
              <a:t>│</a:t>
            </a:r>
          </a:p>
          <a:p>
            <a:r>
              <a:rPr lang="pt-BR" dirty="0"/>
              <a:t>├── </a:t>
            </a:r>
            <a:r>
              <a:rPr lang="pt-BR" dirty="0" err="1"/>
              <a:t>listar.php</a:t>
            </a:r>
            <a:endParaRPr lang="pt-BR" dirty="0"/>
          </a:p>
          <a:p>
            <a:r>
              <a:rPr lang="pt-BR" dirty="0"/>
              <a:t>│</a:t>
            </a:r>
          </a:p>
          <a:p>
            <a:r>
              <a:rPr lang="pt-BR" dirty="0"/>
              <a:t>├── </a:t>
            </a:r>
            <a:r>
              <a:rPr lang="pt-BR" dirty="0" err="1"/>
              <a:t>atualizar.php</a:t>
            </a:r>
            <a:endParaRPr lang="pt-BR" dirty="0"/>
          </a:p>
          <a:p>
            <a:r>
              <a:rPr lang="pt-BR" dirty="0"/>
              <a:t>├── </a:t>
            </a:r>
            <a:r>
              <a:rPr lang="pt-BR" dirty="0" err="1"/>
              <a:t>atualizarAction.php</a:t>
            </a:r>
            <a:endParaRPr lang="pt-BR" dirty="0"/>
          </a:p>
          <a:p>
            <a:r>
              <a:rPr lang="pt-BR" dirty="0"/>
              <a:t>│</a:t>
            </a:r>
          </a:p>
          <a:p>
            <a:r>
              <a:rPr lang="pt-BR" dirty="0"/>
              <a:t>├── </a:t>
            </a:r>
            <a:r>
              <a:rPr lang="pt-BR" dirty="0" err="1"/>
              <a:t>excluir.php</a:t>
            </a:r>
            <a:endParaRPr lang="pt-BR" dirty="0"/>
          </a:p>
          <a:p>
            <a:r>
              <a:rPr lang="pt-BR" dirty="0"/>
              <a:t>├── </a:t>
            </a:r>
            <a:r>
              <a:rPr lang="pt-BR" dirty="0" err="1"/>
              <a:t>excluirAction.php</a:t>
            </a:r>
            <a:endParaRPr lang="pt-BR" dirty="0"/>
          </a:p>
          <a:p>
            <a:r>
              <a:rPr lang="pt-BR" dirty="0"/>
              <a:t>│</a:t>
            </a:r>
          </a:p>
          <a:p>
            <a:r>
              <a:rPr lang="pt-BR" dirty="0"/>
              <a:t>├── </a:t>
            </a:r>
            <a:r>
              <a:rPr lang="pt-BR" dirty="0" err="1"/>
              <a:t>login.php</a:t>
            </a:r>
            <a:endParaRPr lang="pt-BR" dirty="0"/>
          </a:p>
          <a:p>
            <a:r>
              <a:rPr lang="pt-BR" dirty="0"/>
              <a:t>├── </a:t>
            </a:r>
            <a:r>
              <a:rPr lang="pt-BR" dirty="0" err="1"/>
              <a:t>loginAction.php</a:t>
            </a:r>
            <a:endParaRPr lang="pt-BR" dirty="0"/>
          </a:p>
          <a:p>
            <a:r>
              <a:rPr lang="pt-BR" dirty="0"/>
              <a:t>├── </a:t>
            </a:r>
            <a:r>
              <a:rPr lang="pt-BR" dirty="0" err="1"/>
              <a:t>professor.php</a:t>
            </a:r>
            <a:endParaRPr lang="pt-BR" dirty="0"/>
          </a:p>
          <a:p>
            <a:r>
              <a:rPr lang="pt-BR" dirty="0"/>
              <a:t>├── </a:t>
            </a:r>
            <a:r>
              <a:rPr lang="pt-BR" dirty="0" err="1"/>
              <a:t>acessoNegado.php</a:t>
            </a:r>
            <a:endParaRPr lang="pt-BR" dirty="0"/>
          </a:p>
          <a:p>
            <a:r>
              <a:rPr lang="pt-BR" dirty="0"/>
              <a:t>└── </a:t>
            </a:r>
            <a:r>
              <a:rPr lang="pt-BR" dirty="0" err="1"/>
              <a:t>logoutAction.php</a:t>
            </a:r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1564685-32A4-AA93-12CA-24E0407A2072}"/>
              </a:ext>
            </a:extLst>
          </p:cNvPr>
          <p:cNvSpPr txBox="1"/>
          <p:nvPr/>
        </p:nvSpPr>
        <p:spPr>
          <a:xfrm>
            <a:off x="5018965" y="1797208"/>
            <a:ext cx="417962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O projeto foi dividido em arquivos de acordo com cada funcionalidade. Os arquivos do CRUD cuidam da lista de amigos e os arquivos de login cuidam da autenticação, sessão e controle de acesso.</a:t>
            </a:r>
          </a:p>
        </p:txBody>
      </p:sp>
    </p:spTree>
    <p:extLst>
      <p:ext uri="{BB962C8B-B14F-4D97-AF65-F5344CB8AC3E}">
        <p14:creationId xmlns:p14="http://schemas.microsoft.com/office/powerpoint/2010/main" val="16200375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8242553C-08AD-766A-9C7D-A260F70D76CA}"/>
              </a:ext>
            </a:extLst>
          </p:cNvPr>
          <p:cNvSpPr txBox="1"/>
          <p:nvPr/>
        </p:nvSpPr>
        <p:spPr>
          <a:xfrm>
            <a:off x="656799" y="644307"/>
            <a:ext cx="69910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1" cap="all" dirty="0">
                <a:ln w="3175" cmpd="sng">
                  <a:noFill/>
                </a:ln>
                <a:latin typeface="+mj-lt"/>
                <a:ea typeface="+mj-ea"/>
                <a:cs typeface="+mj-cs"/>
              </a:rPr>
              <a:t>Demonstração</a:t>
            </a:r>
            <a:r>
              <a:rPr lang="pt-BR" b="1" dirty="0"/>
              <a:t> </a:t>
            </a:r>
            <a:r>
              <a:rPr lang="pt-BR" sz="3600" b="1" cap="all" dirty="0">
                <a:ln w="3175" cmpd="sng">
                  <a:noFill/>
                </a:ln>
                <a:latin typeface="+mj-lt"/>
                <a:ea typeface="+mj-ea"/>
                <a:cs typeface="+mj-cs"/>
              </a:rPr>
              <a:t>do sistema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6B874A7-C22F-7B59-BF75-BFF1F653FBDF}"/>
              </a:ext>
            </a:extLst>
          </p:cNvPr>
          <p:cNvSpPr txBox="1"/>
          <p:nvPr/>
        </p:nvSpPr>
        <p:spPr>
          <a:xfrm>
            <a:off x="1865762" y="1930525"/>
            <a:ext cx="18458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Fluxo do CRUD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5362F7C-20F4-DD0A-2D07-82D4AB3C92E4}"/>
              </a:ext>
            </a:extLst>
          </p:cNvPr>
          <p:cNvSpPr txBox="1"/>
          <p:nvPr/>
        </p:nvSpPr>
        <p:spPr>
          <a:xfrm>
            <a:off x="1974944" y="3262909"/>
            <a:ext cx="173667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Cadastrar</a:t>
            </a:r>
          </a:p>
          <a:p>
            <a:r>
              <a:rPr lang="pt-BR" dirty="0"/>
              <a:t>    ↓</a:t>
            </a:r>
          </a:p>
          <a:p>
            <a:r>
              <a:rPr lang="pt-BR" dirty="0"/>
              <a:t>Listar</a:t>
            </a:r>
          </a:p>
          <a:p>
            <a:r>
              <a:rPr lang="pt-BR" dirty="0"/>
              <a:t>    ↓</a:t>
            </a:r>
          </a:p>
          <a:p>
            <a:r>
              <a:rPr lang="pt-BR" dirty="0"/>
              <a:t>Atualizar</a:t>
            </a:r>
          </a:p>
          <a:p>
            <a:r>
              <a:rPr lang="pt-BR" dirty="0"/>
              <a:t>    ↓</a:t>
            </a:r>
          </a:p>
          <a:p>
            <a:r>
              <a:rPr lang="pt-BR" dirty="0"/>
              <a:t>Excluir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926C144-D762-7454-AB86-3B1D55EC89AD}"/>
              </a:ext>
            </a:extLst>
          </p:cNvPr>
          <p:cNvSpPr txBox="1"/>
          <p:nvPr/>
        </p:nvSpPr>
        <p:spPr>
          <a:xfrm>
            <a:off x="6779526" y="1930526"/>
            <a:ext cx="1736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Fluxo do login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B62B728-6DDC-B97A-E18D-DBD9CF3E365C}"/>
              </a:ext>
            </a:extLst>
          </p:cNvPr>
          <p:cNvSpPr txBox="1"/>
          <p:nvPr/>
        </p:nvSpPr>
        <p:spPr>
          <a:xfrm>
            <a:off x="6779526" y="3262910"/>
            <a:ext cx="256919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Login</a:t>
            </a:r>
          </a:p>
          <a:p>
            <a:r>
              <a:rPr lang="pt-BR" dirty="0"/>
              <a:t>  ↓</a:t>
            </a:r>
          </a:p>
          <a:p>
            <a:r>
              <a:rPr lang="pt-BR" dirty="0"/>
              <a:t>Validação</a:t>
            </a:r>
          </a:p>
          <a:p>
            <a:r>
              <a:rPr lang="pt-BR" dirty="0"/>
              <a:t>  ↓</a:t>
            </a:r>
          </a:p>
          <a:p>
            <a:r>
              <a:rPr lang="pt-BR" dirty="0"/>
              <a:t>Área do Professor</a:t>
            </a:r>
          </a:p>
          <a:p>
            <a:r>
              <a:rPr lang="pt-BR" dirty="0"/>
              <a:t>  ↓</a:t>
            </a:r>
          </a:p>
          <a:p>
            <a:r>
              <a:rPr lang="pt-BR" dirty="0"/>
              <a:t>Logout</a:t>
            </a:r>
          </a:p>
        </p:txBody>
      </p:sp>
    </p:spTree>
    <p:extLst>
      <p:ext uri="{BB962C8B-B14F-4D97-AF65-F5344CB8AC3E}">
        <p14:creationId xmlns:p14="http://schemas.microsoft.com/office/powerpoint/2010/main" val="9422942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C892910E-23F9-F033-45B4-2B682B8AB0F5}"/>
              </a:ext>
            </a:extLst>
          </p:cNvPr>
          <p:cNvSpPr txBox="1"/>
          <p:nvPr/>
        </p:nvSpPr>
        <p:spPr>
          <a:xfrm>
            <a:off x="719920" y="600080"/>
            <a:ext cx="6107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1" cap="all" dirty="0">
                <a:ln w="3175" cmpd="sng">
                  <a:noFill/>
                </a:ln>
                <a:latin typeface="+mj-lt"/>
                <a:ea typeface="+mj-ea"/>
                <a:cs typeface="+mj-cs"/>
              </a:rPr>
              <a:t>Conclusão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F7F88D5-5D7B-7091-716D-850C17968EDD}"/>
              </a:ext>
            </a:extLst>
          </p:cNvPr>
          <p:cNvSpPr txBox="1"/>
          <p:nvPr/>
        </p:nvSpPr>
        <p:spPr>
          <a:xfrm>
            <a:off x="719920" y="1430068"/>
            <a:ext cx="551710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O projeto permitiu aplicar conhecimentos 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PHP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MySQL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 err="1"/>
              <a:t>MySQLi</a:t>
            </a:r>
            <a:r>
              <a:rPr lang="pt-B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CRUD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Formulários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Sessões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Login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Controle de acesso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1CA4725-0672-ECA1-CBBF-761F5707CB87}"/>
              </a:ext>
            </a:extLst>
          </p:cNvPr>
          <p:cNvSpPr txBox="1"/>
          <p:nvPr/>
        </p:nvSpPr>
        <p:spPr>
          <a:xfrm>
            <a:off x="719919" y="4433080"/>
            <a:ext cx="101846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Com o desenvolvimento desse projeto, pude aplicar na prática os conceitos estudados</a:t>
            </a:r>
          </a:p>
        </p:txBody>
      </p:sp>
    </p:spTree>
    <p:extLst>
      <p:ext uri="{BB962C8B-B14F-4D97-AF65-F5344CB8AC3E}">
        <p14:creationId xmlns:p14="http://schemas.microsoft.com/office/powerpoint/2010/main" val="36862983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9A9E4744-CA17-E27B-48E1-6179D2A6B1B8}"/>
              </a:ext>
            </a:extLst>
          </p:cNvPr>
          <p:cNvSpPr txBox="1"/>
          <p:nvPr/>
        </p:nvSpPr>
        <p:spPr>
          <a:xfrm>
            <a:off x="3053687" y="2924580"/>
            <a:ext cx="5271447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pt-BR" sz="6000" dirty="0"/>
              <a:t>Obrigada!</a:t>
            </a:r>
          </a:p>
        </p:txBody>
      </p:sp>
    </p:spTree>
    <p:extLst>
      <p:ext uri="{BB962C8B-B14F-4D97-AF65-F5344CB8AC3E}">
        <p14:creationId xmlns:p14="http://schemas.microsoft.com/office/powerpoint/2010/main" val="100791182"/>
      </p:ext>
    </p:extLst>
  </p:cSld>
  <p:clrMapOvr>
    <a:masterClrMapping/>
  </p:clrMapOvr>
</p:sld>
</file>

<file path=ppt/theme/theme1.xml><?xml version="1.0" encoding="utf-8"?>
<a:theme xmlns:a="http://schemas.openxmlformats.org/drawingml/2006/main" name="Fatia">
  <a:themeElements>
    <a:clrScheme name="Fatia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Fati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t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145</TotalTime>
  <Words>1169</Words>
  <Application>Microsoft Office PowerPoint</Application>
  <PresentationFormat>Widescreen</PresentationFormat>
  <Paragraphs>214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5" baseType="lpstr">
      <vt:lpstr>Arial Unicode MS</vt:lpstr>
      <vt:lpstr>Arial</vt:lpstr>
      <vt:lpstr>Century Gothic</vt:lpstr>
      <vt:lpstr>Wingdings 3</vt:lpstr>
      <vt:lpstr>Fatia</vt:lpstr>
      <vt:lpstr>PROJETO LISTA DE AMIGOS CRUD + SISTEMA DE LOGIN </vt:lpstr>
      <vt:lpstr>Objetivo</vt:lpstr>
      <vt:lpstr>Tecnologias utilizadas</vt:lpstr>
      <vt:lpstr>Banco de dados</vt:lpstr>
      <vt:lpstr>Página inicial</vt:lpstr>
      <vt:lpstr>Cadastrar amigo — CREATE</vt:lpstr>
      <vt:lpstr>Listar amigos — READ</vt:lpstr>
      <vt:lpstr>Atualizar amigo — UPDATE</vt:lpstr>
      <vt:lpstr>Excluir amigo — DELETE</vt:lpstr>
      <vt:lpstr>CRUD completo</vt:lpstr>
      <vt:lpstr>Banco de dados do login </vt:lpstr>
      <vt:lpstr>Tela de Login</vt:lpstr>
      <vt:lpstr>Validação do login</vt:lpstr>
      <vt:lpstr>Controle de sessão</vt:lpstr>
      <vt:lpstr>Área do professor</vt:lpstr>
      <vt:lpstr>Logout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Cintia Marinho Costa</dc:creator>
  <cp:lastModifiedBy>Cintia Marinho Costa</cp:lastModifiedBy>
  <cp:revision>6</cp:revision>
  <dcterms:created xsi:type="dcterms:W3CDTF">2026-09-28T14:56:01Z</dcterms:created>
  <dcterms:modified xsi:type="dcterms:W3CDTF">2026-09-29T03:23:08Z</dcterms:modified>
</cp:coreProperties>
</file>